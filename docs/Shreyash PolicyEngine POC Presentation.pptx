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Urbanist Medium"/>
      <p:regular r:id="rId13"/>
      <p:bold r:id="rId14"/>
      <p:italic r:id="rId15"/>
      <p:boldItalic r:id="rId16"/>
    </p:embeddedFont>
    <p:embeddedFont>
      <p:font typeface="Urbanis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italic.fntdata"/><Relationship Id="rId14" Type="http://schemas.openxmlformats.org/officeDocument/2006/relationships/font" Target="fonts/UrbanistMedium-bold.fntdata"/><Relationship Id="rId17" Type="http://schemas.openxmlformats.org/officeDocument/2006/relationships/font" Target="fonts/Urbanist-regular.fntdata"/><Relationship Id="rId16" Type="http://schemas.openxmlformats.org/officeDocument/2006/relationships/font" Target="fonts/UrbanistMedium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italic.fntdata"/><Relationship Id="rId6" Type="http://schemas.openxmlformats.org/officeDocument/2006/relationships/slide" Target="slides/slide1.xml"/><Relationship Id="rId18" Type="http://schemas.openxmlformats.org/officeDocument/2006/relationships/font" Target="fonts/Urbanis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08001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PolicyEngine </a:t>
            </a:r>
            <a:r>
              <a:rPr b="1" i="0" lang="en-US" sz="48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POC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68972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Content Management in Health Care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58616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Conversion of Written Policy into Rules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332833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Intern Screening Submission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30671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CMS policy formats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77368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Challenge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130671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PolicyEngine POC Approach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17734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Narrative policy prose: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Paragraphs in the NCCI Policy Manual explaining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bundling edit exists.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257353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Machine-readable edit tables: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NCCI PTP files containing structured logic (code pairs, modifier rules, effective dates).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424041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Claims editing systems require executable logic.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473571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Manual SME translation is slow and error-prone during quarterly policy updates.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15125" y="17734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LLM-assisted drafting: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AI to propose structured JSON rules directly from unstructured policy text.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25735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Strict Architectural Constraint: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LLM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never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decides claim outcomes. It handles language understanding only.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33736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 Data: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POC uses real CMS excerpts (CPT 28230 / 64450) and gold edit table rows for verifiable ground truth.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6306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429756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79286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38175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381750" y="26306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1750" y="34307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3810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The policy-to-rules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130671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Layer 1 </a:t>
            </a:r>
            <a:r>
              <a:rPr lang="en-US" sz="21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-</a:t>
            </a: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Extractor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46888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Evaluator (Quality Gate)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381750" y="1306710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Layer 2 </a:t>
            </a:r>
            <a:r>
              <a:rPr lang="en-US" sz="2100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-</a:t>
            </a: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Auditor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04875" y="177343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Language Understanding.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226873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 LLM reads messy policy text and outputs structured JSON (column1_code, column2_code, modifier_allowed, rationale_quote).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04875" y="393561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Scores extraction against published NCCI tables (Precision, recall, F1).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04875" y="473571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Performs a verbatim quote groundedness check to flag hallucinated citations.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15125" y="177343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Decision Logic.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715125" y="22687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Pure deterministic Python executes code matching, date of service, location, and modifier bypass logic.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15125" y="306883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Security Guardrail: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LLM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the claim decision path.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715125" y="35641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Every denial or payment decision is reproducible, explainable, and traceable.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23258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399276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479286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38175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381750" y="23258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381750" y="31259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381750" y="36212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571500" y="3810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Two-layer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3090"/>
            <a:ext cx="3492549" cy="357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03090"/>
            <a:ext cx="3492549" cy="3577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03090"/>
            <a:ext cx="3492549" cy="357738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66775" y="30460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RAG adoption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66775" y="3465165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Retrieval-Augmented Generation is becoming standard. By retrieving authoritative passages before generation, RAG grounds outputs in source documents, reducing factual errors during frequent policy revisions.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645074" y="30460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Human-in-the-Loop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645074" y="3465165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Enterprises deploy LLMs for first-draft authoring but mandate SME review. This acknowledges that models excel at interpretation but lack accountability for financial claim decisions.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23374" y="3046065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Regulatory Scrutiny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423374" y="3465165"/>
            <a:ext cx="2901999" cy="1920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New 2026 laws (e.g., Alabama SB63, Utah SB319) require AI transparency and prohibit insurers from using AI as the </a:t>
            </a: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sole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basis for denying claims. Architectures must separate AI extraction from deterministic adjudication.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269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4269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42694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571500" y="3810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Relevant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Industry Trends</a:t>
            </a: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(2026)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130671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Opportunities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381750" y="130671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Threats &amp; Mitigations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04875" y="17734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Faster Rule Updates: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Copilots create first-draft rules from quarterly PDF updates, accelerating cycles.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904875" y="257353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 Trails: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Citation-grounded extraction links executable logic back to source prose, aiding compliance and dispute resolution.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904875" y="36784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SME Focus: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Shifts language-heavy interpretation to models, freeing experts to handle edge cases.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715125" y="17734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Threat: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Hallucinated rules or model drift causing improper denials.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15125" y="25735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POC Mitigation 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Gold-table regression comparing extracted pairs against published NCCI data.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715125" y="33736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POC Mitigation 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Groundedness checks verifying verbatim quotes, orthogonal to pair accuracy.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15125" y="417373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POC Mitigation 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deterministic audit layer removes the LLM from the actual decision path.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26306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571500" y="3735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381750" y="18305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381750" y="26306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381750" y="34307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381750" y="423088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3810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Opportunities &amp;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Threats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809750" y="2000101"/>
            <a:ext cx="90487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Mandatory human-in-the-loop review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Every LLM-extracted rule set requires SME sign-off before promotion to production libraries. The model proposes candidates; humans approve.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809750" y="3200251"/>
            <a:ext cx="90487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Continuous regression harness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 each quarterly update, re-run extraction against edit table subsets and claim fixtures. Block promotion if metrics fall below defined thresholds.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809750" y="4400401"/>
            <a:ext cx="90487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Strict architectural separation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Maintain the two-layer pattern: LLM for language tasks only; deterministic engine for all claim pass/fail decisions with auditable reason codes.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809750" y="5600551"/>
            <a:ext cx="90487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 for scale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Broader gold-table coverage, integration with existing rule management systems, and formal change control.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995338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19548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395638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5595788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571500" y="57298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5. Strategic recommendation for </a:t>
            </a:r>
            <a:r>
              <a:rPr b="1" i="0" lang="en-US" sz="39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Cotiviti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983009"/>
            <a:ext cx="11049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Deploy an internal policy-to-rule copilot</a:t>
            </a: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not as a production claims editor, but as an accelerator for rule authoring.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295275" y="210978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Thank You!!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34051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Intern Submission: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Shreyash Kakde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571500" y="38528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University of Southern California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430053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      shreyashkakde46@gmail.com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2512" y="435768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